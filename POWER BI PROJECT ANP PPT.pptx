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D620F4"/>
    <a:srgbClr val="1C9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F884C-A744-48A7-9315-5B1F0C24F1A7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D96C5-3562-4978-928F-2DE419E14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55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D96C5-3562-4978-928F-2DE419E14F5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194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D96C5-3562-4978-928F-2DE419E14F5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272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AA88D-9576-C2B2-CB13-AD2B01AFA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D45E1-F002-888C-A34E-70CDC8115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4A555-0F5A-EACE-B9E3-71AE575D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6370B-DFC5-4F5A-AC89-BEC59CDB69C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25EB4-E9A8-D9AD-0FC7-CB256CA29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68EE8-D249-B90C-51AB-A00B319B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2813-5737-483C-B218-9BC4F1E37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715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BCEA-1A24-F78D-3B62-47AB1738C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D9CF9-31F9-3A24-EF08-D9223FB57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06794-80FE-56D4-BFEB-501B6B3A3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6370B-DFC5-4F5A-AC89-BEC59CDB69C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E48D6-663D-FE47-D97B-DDF57B915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A278C-08BA-5B8F-5AA2-AAF3D9369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2813-5737-483C-B218-9BC4F1E37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5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8BD3-9CEA-C615-76CD-08FF48C92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ABAF3-5EF4-3C7F-D4FB-B3E8490C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D107E-9EAD-91A8-FBB0-220C1A15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6370B-DFC5-4F5A-AC89-BEC59CDB69C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FB7CD-C4A6-3DFA-9B08-4F5D71647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19A26-7095-5EB9-04F1-1E83A9B8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2813-5737-483C-B218-9BC4F1E37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37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857C9-BF3E-7DC2-4234-3624053F3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7675-6D96-52D7-9342-1FFA7FE038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7ECFD-53DF-1BB0-344A-65F898504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F4ACF-A206-D94A-67C3-599CE07D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6370B-DFC5-4F5A-AC89-BEC59CDB69C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D7C79-5C79-3FE3-9404-6373014FD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93853-85B4-F843-1032-7433B5B50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2813-5737-483C-B218-9BC4F1E37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276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EFBA9-3865-7221-FB0A-4B91AEE77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86F7C-3F65-A37E-E6D6-9F9658023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DD32C-8230-1334-57F1-86FEEBA73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FF7095-FE56-34F4-BC22-F55FC475A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7CFF5D-C87C-44CA-840D-3521A9E8A4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3F2EC1-0E96-5C2C-81D8-0692F1A9F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6370B-DFC5-4F5A-AC89-BEC59CDB69C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1184B2-1AD0-3E9E-3149-BC02E95E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A9197-9869-E3D9-20FD-F80218ACC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2813-5737-483C-B218-9BC4F1E37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81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7C26-9070-F21D-BEFF-DAB62817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C654E3-7ECF-F299-3280-62AB346EC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6370B-DFC5-4F5A-AC89-BEC59CDB69C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E4056-4904-47CE-11EC-D097E636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BC12E2-94D2-7D19-C74F-0EDC9AED0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2813-5737-483C-B218-9BC4F1E37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35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5545C-1654-291E-B6A6-2C2B8293F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6370B-DFC5-4F5A-AC89-BEC59CDB69C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A435E-8061-3C5F-677A-5F46E77BD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123A8-55E0-C93D-F847-82479F2B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2813-5737-483C-B218-9BC4F1E37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389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00F67-8BEF-A9EE-DB87-4E219E4D3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FFAE3-CE31-25B0-6702-588CACEA4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8FA1D-02AA-EE72-5073-7D61BC51C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D98AB-4B4C-CD3E-9EC2-F12622251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6370B-DFC5-4F5A-AC89-BEC59CDB69C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5A773-ACF7-6822-8D59-E0719D56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340C2-5F27-B1F5-460C-246B086CD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2813-5737-483C-B218-9BC4F1E37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07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65EBC-0927-D1A8-6AF4-9470D39C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98F829-0814-48A4-E307-83698891B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8905A-8F56-FD5D-4BF0-91DCAEB96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ED096-C96F-28A4-26E4-C2526809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6370B-DFC5-4F5A-AC89-BEC59CDB69C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FB0A7-4A7F-F8AD-234E-25E81D3C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7B153-3ADD-219C-D2EA-530D33C8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2813-5737-483C-B218-9BC4F1E37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481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503FF-F726-C121-57EE-2A34A0248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AE90B-8FD1-CCF1-B30E-537FA8FDE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8A9AD-6F51-E4BD-9C96-599EB4D7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6370B-DFC5-4F5A-AC89-BEC59CDB69C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E13E-BEAA-2F9A-9F51-63B4B108C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F4126-604D-E209-7F73-62F88B75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2813-5737-483C-B218-9BC4F1E37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5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8BED14-B237-A69B-6BE5-A2A5DC594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B91D6-CC65-C731-94CA-E46C1695E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50D8B-6663-793D-625F-05CAE8152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6370B-DFC5-4F5A-AC89-BEC59CDB69C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2D8F6-58DD-6BF0-F5CA-559045814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406EA-753A-748E-B5DA-F8CFA8A1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82813-5737-483C-B218-9BC4F1E37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86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5B2A12-C87F-4E56-B8F4-01BF7CBAD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8EBE4-15DB-34A3-4724-DF27B6936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610DF-26FD-A898-ABFB-C949B3563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6370B-DFC5-4F5A-AC89-BEC59CDB69C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672E1-4779-9FAF-F994-33A73C07A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7536-280B-6811-A9F7-8A162D978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82813-5737-483C-B218-9BC4F1E37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91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log.hametbenoit.info/2019/11/04/power-bi-the-new-exe-installer-command-lines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CF558-1DF8-EFBD-6DF2-77553D935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813" y="1524931"/>
            <a:ext cx="10164929" cy="17089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cap="sq">
            <a:solidFill>
              <a:srgbClr val="000000"/>
            </a:solidFill>
            <a:rou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  <a:bevelB w="152400" h="50800" prst="softRound"/>
          </a:sp3d>
        </p:spPr>
        <p:txBody>
          <a:bodyPr vert="horz" anchor="ctr" anchorCtr="0">
            <a:noAutofit/>
          </a:bodyPr>
          <a:lstStyle/>
          <a:p>
            <a:r>
              <a:rPr lang="en-IN" dirty="0">
                <a:solidFill>
                  <a:srgbClr val="000000"/>
                </a:solidFill>
                <a:effectLst>
                  <a:glow rad="88900">
                    <a:schemeClr val="accent5">
                      <a:lumMod val="75000"/>
                    </a:schemeClr>
                  </a:glow>
                  <a:outerShdw blurRad="1270000" dir="5400000" algn="ctr" rotWithShape="0">
                    <a:schemeClr val="bg1"/>
                  </a:outerShdw>
                </a:effectLst>
              </a:rPr>
              <a:t>POWER BI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68911C-CD90-FC4F-2198-6DAC05D04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3913240"/>
            <a:ext cx="6547129" cy="95372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14300" prst="artDeco"/>
            <a:bevelB w="114300" prst="artDeco"/>
          </a:sp3d>
        </p:spPr>
        <p:txBody>
          <a:bodyPr anchor="t" anchorCtr="0"/>
          <a:lstStyle/>
          <a:p>
            <a:r>
              <a:rPr lang="en-IN" dirty="0"/>
              <a:t> PROJECT TITLE : E COMMERCE SALES &amp; PROFIT PERFORMANCE ANALYSIS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3698C0-66D3-1537-95C9-ECDB27410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466595" y="1596365"/>
            <a:ext cx="1317522" cy="154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85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E9FAF-6F5F-4008-1177-7BBC4AF43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66"/>
            <a:ext cx="10515600" cy="1325563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D0F5-6624-DFE5-1990-3FF7459E0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775" y="2702232"/>
            <a:ext cx="5985387" cy="2589059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Project Objective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Data Sources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Data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Conclusion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100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bg1"/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90FB-CC72-5345-DE14-1E8D99B2C71E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pPr algn="ctr"/>
            <a:r>
              <a:rPr lang="en-IN" dirty="0"/>
              <a:t>Project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B31DA-DC9A-A5BB-0515-98FE4B6A7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283"/>
            <a:ext cx="10626213" cy="3422086"/>
          </a:xfrm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This report evaluates the global sales performance and profitability of our e commerce operations over a two years period.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This analysis aims to identify the specific levels – regional, product based, and payment method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identify sale, profit, and year over year growth 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060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bg1"/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3C4D9-AE83-30E8-19DD-DDA40900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507"/>
            <a:ext cx="10515600" cy="1325563"/>
          </a:xfrm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pPr algn="ctr"/>
            <a:r>
              <a:rPr lang="en-IN" dirty="0"/>
              <a:t>DATA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44FDD-E585-E00A-E14A-320AB1E4B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113" y="1959428"/>
            <a:ext cx="11170421" cy="4441372"/>
          </a:xfrm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r>
              <a:rPr lang="en-IN" dirty="0"/>
              <a:t>  key metrics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total sales : 12.63M</a:t>
            </a:r>
          </a:p>
          <a:p>
            <a:pPr marL="0" indent="0">
              <a:buNone/>
            </a:pPr>
            <a:r>
              <a:rPr lang="en-IN" dirty="0"/>
              <a:t>            total profit : 413.86K</a:t>
            </a:r>
          </a:p>
          <a:p>
            <a:pPr marL="0" indent="0">
              <a:buNone/>
            </a:pPr>
            <a:r>
              <a:rPr lang="en-IN" dirty="0"/>
              <a:t>             average quantity sold : 3.00/5 ( star rating 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3166DC-2E89-8F02-3CC2-C79A092EA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867" y="4902407"/>
            <a:ext cx="5451033" cy="12038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DD30F0-5DB1-1CCA-6863-BE3532249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902407"/>
            <a:ext cx="5451033" cy="120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656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bg1"/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077A-18D4-E692-095C-72CE8156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94" y="244807"/>
            <a:ext cx="10515600" cy="1325563"/>
          </a:xfrm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pPr algn="ctr"/>
            <a:r>
              <a:rPr lang="en-IN" dirty="0"/>
              <a:t>YEAR OVER YEAR GROWTH ON ORDER DATE   ( </a:t>
            </a:r>
            <a:r>
              <a:rPr lang="en-IN" sz="3200" dirty="0"/>
              <a:t>YEAR, QTR, MONTH,DAY</a:t>
            </a:r>
            <a:r>
              <a:rPr lang="en-IN" dirty="0"/>
              <a:t>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22F950-6AE2-07B7-DF5C-93F31227B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648" y="1968193"/>
            <a:ext cx="11068665" cy="4889807"/>
          </a:xfrm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r>
              <a:rPr lang="en-IN" dirty="0"/>
              <a:t>YOY GROWTH ANALYSIS 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 product category growth is increase </a:t>
            </a:r>
          </a:p>
          <a:p>
            <a:pPr marL="0" indent="0">
              <a:buNone/>
            </a:pPr>
            <a:r>
              <a:rPr lang="en-IN" dirty="0"/>
              <a:t>   0.60% in 2022 – 2023.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product growth is decrease in 2023</a:t>
            </a:r>
          </a:p>
          <a:p>
            <a:pPr marL="0" indent="0">
              <a:buNone/>
            </a:pPr>
            <a:r>
              <a:rPr lang="en-IN" dirty="0"/>
              <a:t>      Qtr1, Qtr3 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41CA73-C889-462D-827C-825BB2A86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607" y="1588394"/>
            <a:ext cx="4719484" cy="26316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6BC4F2-F009-9300-F49C-B80FE1C539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07" y="4413096"/>
            <a:ext cx="5553285" cy="225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77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bg1"/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8A1D-D1AC-5F93-68B8-8FB9476459DD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r>
              <a:rPr lang="en-IN" dirty="0"/>
              <a:t>REGIONAL WISE SALES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07EFE-39B7-BDFE-5F7F-B6D4AFEC385B}"/>
              </a:ext>
            </a:extLst>
          </p:cNvPr>
          <p:cNvSpPr>
            <a:spLocks noGrp="1"/>
          </p:cNvSpPr>
          <p:nvPr>
            <p:ph idx="1"/>
          </p:nvPr>
        </p:nvSpPr>
        <p:spPr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DATA PIONTS : </a:t>
            </a:r>
          </a:p>
          <a:p>
            <a:pPr marL="0" indent="0">
              <a:buNone/>
            </a:pPr>
            <a:r>
              <a:rPr lang="en-IN" dirty="0"/>
              <a:t>        North America : 3.17M { Top sales }</a:t>
            </a:r>
          </a:p>
          <a:p>
            <a:pPr marL="0" indent="0">
              <a:buNone/>
            </a:pPr>
            <a:r>
              <a:rPr lang="en-IN" dirty="0"/>
              <a:t>        Middle East : 3.16M</a:t>
            </a:r>
          </a:p>
          <a:p>
            <a:pPr marL="0" indent="0">
              <a:buNone/>
            </a:pPr>
            <a:r>
              <a:rPr lang="en-IN" dirty="0"/>
              <a:t>        Asia : 3.16M</a:t>
            </a:r>
          </a:p>
          <a:p>
            <a:pPr marL="0" indent="0">
              <a:buNone/>
            </a:pPr>
            <a:r>
              <a:rPr lang="en-IN" dirty="0"/>
              <a:t>        Europe : 3.13M { low sales }.</a:t>
            </a:r>
          </a:p>
          <a:p>
            <a:r>
              <a:rPr lang="en-IN" dirty="0"/>
              <a:t> Regional sales is incredibly balanced globally, with less than 2% variance between the top &amp; low regions.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5FEDF0-2FFE-A027-A933-17BFE6098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646" y="1932305"/>
            <a:ext cx="3610091" cy="266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03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bg1"/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E2DB-8429-B493-F2B3-EFB45EA59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783" y="166429"/>
            <a:ext cx="9268433" cy="1446062"/>
          </a:xfrm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pPr algn="ctr"/>
            <a:r>
              <a:rPr lang="en-IN" dirty="0"/>
              <a:t>Product category performance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A077-B1BD-D3D3-402B-27AB1FF44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27" y="2270732"/>
            <a:ext cx="11615895" cy="4420840"/>
          </a:xfrm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r>
              <a:rPr lang="en-IN" dirty="0"/>
              <a:t>Visual: “sum of profit by product category “ </a:t>
            </a:r>
            <a:r>
              <a:rPr lang="en-IN" dirty="0" err="1"/>
              <a:t>Treemap</a:t>
            </a:r>
            <a:r>
              <a:rPr lang="en-IN" dirty="0"/>
              <a:t> .</a:t>
            </a:r>
          </a:p>
          <a:p>
            <a:r>
              <a:rPr lang="en-IN" dirty="0"/>
              <a:t>rankings:  </a:t>
            </a:r>
          </a:p>
          <a:p>
            <a:pPr marL="0" indent="0">
              <a:buNone/>
            </a:pPr>
            <a:r>
              <a:rPr lang="en-IN" dirty="0"/>
              <a:t>        beauty : Top in profit and sales .</a:t>
            </a:r>
          </a:p>
          <a:p>
            <a:pPr marL="0" indent="0">
              <a:buNone/>
            </a:pPr>
            <a:r>
              <a:rPr lang="en-IN" dirty="0"/>
              <a:t>        sports : low in profit .</a:t>
            </a:r>
          </a:p>
          <a:p>
            <a:pPr marL="0" indent="0">
              <a:buNone/>
            </a:pPr>
            <a:r>
              <a:rPr lang="en-IN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BD05A-6777-3A01-1FD2-3EB81A6AB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133" y="3176874"/>
            <a:ext cx="3982006" cy="2848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F793E6-A6BE-9954-BFE8-28E707380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549" y="4404416"/>
            <a:ext cx="3848637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57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bg1"/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0AA0-2EBA-637A-ADAB-457F32F74F79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pPr algn="ctr"/>
            <a:r>
              <a:rPr lang="en-IN" dirty="0"/>
              <a:t>Growth 2022 - 2023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4533E-002E-DCC2-FC10-200B3CB71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78497" cy="4667250"/>
          </a:xfrm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r>
              <a:rPr lang="en-IN" dirty="0"/>
              <a:t> visual: Total revenue amount and sum of quantity sold by year .</a:t>
            </a:r>
          </a:p>
          <a:p>
            <a:pPr marL="0" indent="0">
              <a:buNone/>
            </a:pPr>
            <a:r>
              <a:rPr lang="en-IN" dirty="0"/>
              <a:t>        both revenue and quantity sold show a</a:t>
            </a:r>
          </a:p>
          <a:p>
            <a:pPr marL="0" indent="0">
              <a:buNone/>
            </a:pPr>
            <a:r>
              <a:rPr lang="en-IN" dirty="0"/>
              <a:t>   upward trend from 2022 – 2023. </a:t>
            </a:r>
          </a:p>
          <a:p>
            <a:pPr marL="0" indent="0">
              <a:buNone/>
            </a:pPr>
            <a:r>
              <a:rPr lang="en-IN" dirty="0"/>
              <a:t>        Revenue increase from 16.3K to 16.4K.</a:t>
            </a:r>
          </a:p>
          <a:p>
            <a:pPr marL="0" indent="0">
              <a:buNone/>
            </a:pPr>
            <a:r>
              <a:rPr lang="en-IN" dirty="0"/>
              <a:t>         quantity increase from 74 K to 75 K. </a:t>
            </a:r>
          </a:p>
          <a:p>
            <a:pPr marL="0" indent="0">
              <a:buNone/>
            </a:pPr>
            <a:r>
              <a:rPr lang="en-IN" dirty="0"/>
              <a:t>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081BDE-1AE8-33FC-F4B6-E680FDD4B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832" y="2628215"/>
            <a:ext cx="4286864" cy="269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14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bg1"/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71C0-5774-407C-97ED-159AEF4F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827"/>
            <a:ext cx="10515600" cy="1179870"/>
          </a:xfrm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pPr algn="ctr"/>
            <a:r>
              <a:rPr lang="en-IN" dirty="0"/>
              <a:t>The impact of discounting on profit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89D3D-CFFC-00E9-C3DD-8A1744DB0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73910"/>
            <a:ext cx="10515600" cy="2915262"/>
          </a:xfrm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r>
              <a:rPr lang="en-IN" dirty="0"/>
              <a:t> visual : “Total profit by discount percent and quarter” Bar chart.</a:t>
            </a:r>
          </a:p>
          <a:p>
            <a:r>
              <a:rPr lang="en-IN" dirty="0"/>
              <a:t>Observation : </a:t>
            </a:r>
          </a:p>
          <a:p>
            <a:pPr marL="0" indent="0">
              <a:buNone/>
            </a:pPr>
            <a:r>
              <a:rPr lang="en-IN" dirty="0"/>
              <a:t>       peak profit occurs at the 5% discount level.</a:t>
            </a:r>
          </a:p>
          <a:p>
            <a:pPr marL="0" indent="0">
              <a:buNone/>
            </a:pPr>
            <a:r>
              <a:rPr lang="en-IN" dirty="0"/>
              <a:t>       The profitability drop significantly once discounts hit 30%.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853AB-7C7A-9201-F667-EBD19BDEC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705" y="1432433"/>
            <a:ext cx="6906589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89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bg1"/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B1C55-A9A1-FAAD-FB61-762343549F88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/>
          <a:lstStyle/>
          <a:p>
            <a:pPr algn="ctr"/>
            <a:r>
              <a:rPr lang="en-IN" dirty="0"/>
              <a:t>Payment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1F713-6539-7D1F-A632-2ADC21C9938D}"/>
              </a:ext>
            </a:extLst>
          </p:cNvPr>
          <p:cNvSpPr>
            <a:spLocks noGrp="1"/>
          </p:cNvSpPr>
          <p:nvPr>
            <p:ph idx="1"/>
          </p:nvPr>
        </p:nvSpPr>
        <p:spPr>
          <a:gradFill>
            <a:gsLst>
              <a:gs pos="20000">
                <a:schemeClr val="bg1"/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>
            <a:normAutofit lnSpcReduction="10000"/>
          </a:bodyPr>
          <a:lstStyle/>
          <a:p>
            <a:r>
              <a:rPr lang="en-IN" dirty="0"/>
              <a:t>visual: “sum of discount price by payment method </a:t>
            </a:r>
            <a:r>
              <a:rPr lang="en-IN"/>
              <a:t>“ table.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Findings : </a:t>
            </a:r>
          </a:p>
          <a:p>
            <a:pPr marL="0" indent="0">
              <a:buNone/>
            </a:pPr>
            <a:r>
              <a:rPr lang="en-IN" dirty="0"/>
              <a:t>                   cash on delivery : 2.17</a:t>
            </a:r>
          </a:p>
          <a:p>
            <a:pPr marL="0" indent="0">
              <a:buNone/>
            </a:pPr>
            <a:r>
              <a:rPr lang="en-IN" dirty="0"/>
              <a:t>                    wallet : 2.21</a:t>
            </a:r>
          </a:p>
          <a:p>
            <a:pPr marL="0" indent="0">
              <a:buNone/>
            </a:pPr>
            <a:r>
              <a:rPr lang="en-IN" dirty="0"/>
              <a:t>                    UPI : 2.20 </a:t>
            </a:r>
          </a:p>
          <a:p>
            <a:pPr marL="0" indent="0">
              <a:buNone/>
            </a:pPr>
            <a:r>
              <a:rPr lang="en-IN" dirty="0"/>
              <a:t>                    credit card : 2.16</a:t>
            </a:r>
          </a:p>
          <a:p>
            <a:pPr marL="0" indent="0">
              <a:buNone/>
            </a:pPr>
            <a:r>
              <a:rPr lang="en-IN" dirty="0"/>
              <a:t>                     debit card : 2.19 .</a:t>
            </a:r>
          </a:p>
          <a:p>
            <a:pPr marL="0" indent="0">
              <a:buNone/>
            </a:pPr>
            <a:r>
              <a:rPr lang="en-IN" dirty="0"/>
              <a:t> insight: digital payments ( wallet/UPI) are the preferred methods.</a:t>
            </a:r>
          </a:p>
          <a:p>
            <a:pPr marL="0" indent="0">
              <a:buNone/>
            </a:pPr>
            <a:r>
              <a:rPr lang="en-IN" dirty="0"/>
              <a:t>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97EC2-A8A3-DCF2-287B-27813F37F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130" y="2333647"/>
            <a:ext cx="4398160" cy="262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04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bg1"/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9BF5-3E83-E982-463F-D0A7C27C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4A418-76E7-CA0F-4A13-098C9670F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Recommendations :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Regional focus : target Europe for a profitability boost to match the middle east’s performance.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Category focus : In products beauty (102.19%) and electronics(101.24%) as they are the primary engines for growth.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Discount : limit 30% discounts as they yield the lowest profit returns.      </a:t>
            </a:r>
          </a:p>
        </p:txBody>
      </p:sp>
    </p:spTree>
    <p:extLst>
      <p:ext uri="{BB962C8B-B14F-4D97-AF65-F5344CB8AC3E}">
        <p14:creationId xmlns:p14="http://schemas.microsoft.com/office/powerpoint/2010/main" val="2278872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528</TotalTime>
  <Words>455</Words>
  <Application>Microsoft Office PowerPoint</Application>
  <PresentationFormat>Widescreen</PresentationFormat>
  <Paragraphs>71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 BI PROJECT </vt:lpstr>
      <vt:lpstr>PROJECT AGENDA </vt:lpstr>
      <vt:lpstr>Project objective </vt:lpstr>
      <vt:lpstr>DATA ANALYSIS </vt:lpstr>
      <vt:lpstr>YEAR OVER YEAR GROWTH ON ORDER DATE   ( YEAR, QTR, MONTH,DAY)</vt:lpstr>
      <vt:lpstr>REGIONAL WISE SALES </vt:lpstr>
      <vt:lpstr>Product category performance </vt:lpstr>
      <vt:lpstr>Growth 2022 - 2023</vt:lpstr>
      <vt:lpstr>The impact of discounting on profit </vt:lpstr>
      <vt:lpstr>Payment methods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madhavi ganji</dc:creator>
  <cp:lastModifiedBy>madhavi ganji</cp:lastModifiedBy>
  <cp:revision>2</cp:revision>
  <dcterms:created xsi:type="dcterms:W3CDTF">2026-03-14T14:17:57Z</dcterms:created>
  <dcterms:modified xsi:type="dcterms:W3CDTF">2026-03-23T10:21:46Z</dcterms:modified>
</cp:coreProperties>
</file>